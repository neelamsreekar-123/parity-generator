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</p:sldIdLst>
  <p:sldSz cx="12192000" cy="6858000"/>
  <p:notesSz cx="6858000" cy="12192000"/>
  <p:embeddedFontLst>
    <p:embeddedFont>
      <p:font typeface="Lora" pitchFamily="2" charset="0"/>
      <p:regular r:id="rId12"/>
    </p:embeddedFont>
    <p:embeddedFont>
      <p:font typeface="Source Sans 3" panose="020B0604020202020204" charset="0"/>
      <p:regular r:id="rId13"/>
    </p:embeddedFont>
    <p:embeddedFont>
      <p:font typeface="Source Sans 3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833"/>
    <a:srgbClr val="383A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118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PowerPoint_Presentation.pptx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968004"/>
            <a:ext cx="6223638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 and Simulation of Digital Even and Odd Parity Generator Using XOR Gates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4027190"/>
            <a:ext cx="6223638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 Logic Design | Circuit Design &amp; Simulation</a:t>
            </a:r>
            <a:endParaRPr lang="en-US" sz="15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6F1A2-A59E-CDD0-D9AF-866CAA77FC6C}"/>
              </a:ext>
            </a:extLst>
          </p:cNvPr>
          <p:cNvSpPr/>
          <p:nvPr/>
        </p:nvSpPr>
        <p:spPr>
          <a:xfrm>
            <a:off x="10899309" y="6419461"/>
            <a:ext cx="1262893" cy="354563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med" advTm="8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273473"/>
            <a:ext cx="6223638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Do We Need Parity?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5269971" y="1940520"/>
            <a:ext cx="841949" cy="212130"/>
          </a:xfrm>
          <a:prstGeom prst="roundRect">
            <a:avLst>
              <a:gd name="adj" fmla="val 7899"/>
            </a:avLst>
          </a:prstGeom>
          <a:solidFill>
            <a:srgbClr val="49042A"/>
          </a:solidFill>
          <a:ln/>
        </p:spPr>
      </p:sp>
      <p:sp>
        <p:nvSpPr>
          <p:cNvPr id="5" name="Text 2"/>
          <p:cNvSpPr/>
          <p:nvPr/>
        </p:nvSpPr>
        <p:spPr>
          <a:xfrm>
            <a:off x="5353710" y="1982391"/>
            <a:ext cx="1284057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269971" y="2191742"/>
            <a:ext cx="294146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in Transit is Vulnerable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269971" y="2494855"/>
            <a:ext cx="2941465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 transmission is susceptible to noise and bit-flip errors. A single corrupted bit can silently corrupt data — undetected.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269971" y="3174206"/>
            <a:ext cx="873500" cy="212130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53710" y="3216077"/>
            <a:ext cx="1315608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269971" y="3425428"/>
            <a:ext cx="294146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Add One Extra Bit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269971" y="3728541"/>
            <a:ext cx="2941465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</a:t>
            </a:r>
            <a:r>
              <a:rPr lang="en-US" sz="1050" b="1" dirty="0">
                <a:solidFill>
                  <a:srgbClr val="00D4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parity bit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appended to original data, enabling the receiver to verify data integrity with a single check.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58494" y="1940520"/>
            <a:ext cx="2941465" cy="8102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93339" y="2099171"/>
            <a:ext cx="254797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Original Data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793339" y="2402284"/>
            <a:ext cx="25479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1011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4 bits</a:t>
            </a:r>
            <a:endParaRPr lang="en-US" sz="10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58494" y="2848471"/>
            <a:ext cx="2941465" cy="8102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93339" y="3007122"/>
            <a:ext cx="254797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Parity Bit Added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793339" y="3310235"/>
            <a:ext cx="25479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Extra bit: </a:t>
            </a:r>
            <a:r>
              <a:rPr lang="en-US" sz="1050" b="1" dirty="0">
                <a:solidFill>
                  <a:srgbClr val="00D4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</a:t>
            </a:r>
            <a:endParaRPr lang="en-US" sz="10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58494" y="3756422"/>
            <a:ext cx="2941465" cy="8102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93339" y="3915073"/>
            <a:ext cx="254797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Transmitted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8793339" y="4218186"/>
            <a:ext cx="25479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1011</a:t>
            </a:r>
            <a:r>
              <a:rPr lang="en-US" sz="1050" b="1" dirty="0">
                <a:solidFill>
                  <a:srgbClr val="00D4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5 bits</a:t>
            </a:r>
            <a:endParaRPr lang="en-US" sz="10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58494" y="4664373"/>
            <a:ext cx="2941465" cy="8102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793339" y="4823023"/>
            <a:ext cx="254797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Receiver Checks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8793339" y="5126137"/>
            <a:ext cx="25479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Verifies parity bit against received data ✓</a:t>
            </a:r>
            <a:endParaRPr lang="en-US" sz="10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9417CA-8B70-F9DD-6739-D6107542D860}"/>
              </a:ext>
            </a:extLst>
          </p:cNvPr>
          <p:cNvSpPr/>
          <p:nvPr/>
        </p:nvSpPr>
        <p:spPr>
          <a:xfrm>
            <a:off x="10899309" y="6419461"/>
            <a:ext cx="1262893" cy="354563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800">
        <p159:morph option="byObject"/>
      </p:transition>
    </mc:Choice>
    <mc:Fallback xmlns="">
      <p:transition spd="med" advTm="8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29481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Even vs Odd Parity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561663" y="1756767"/>
            <a:ext cx="5439433" cy="4171752"/>
          </a:xfrm>
          <a:prstGeom prst="roundRect">
            <a:avLst>
              <a:gd name="adj" fmla="val 681"/>
            </a:avLst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751166" y="1959273"/>
            <a:ext cx="1031750" cy="288032"/>
          </a:xfrm>
          <a:prstGeom prst="roundRect">
            <a:avLst>
              <a:gd name="adj" fmla="val 7895"/>
            </a:avLst>
          </a:prstGeom>
          <a:solidFill>
            <a:srgbClr val="FDCEE8"/>
          </a:solidFill>
          <a:ln/>
        </p:spPr>
      </p:sp>
      <p:sp>
        <p:nvSpPr>
          <p:cNvPr id="5" name="Text 3"/>
          <p:cNvSpPr/>
          <p:nvPr/>
        </p:nvSpPr>
        <p:spPr>
          <a:xfrm>
            <a:off x="864868" y="2016125"/>
            <a:ext cx="1413931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 PARITY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51166" y="2319238"/>
            <a:ext cx="5060427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1s must be EVEN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1166" y="2777827"/>
            <a:ext cx="5060427" cy="1210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Data: </a:t>
            </a:r>
            <a:r>
              <a:rPr lang="en-US" sz="14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1011</a:t>
            </a: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three 1s (odd count)</a:t>
            </a:r>
            <a:endParaRPr lang="en-US" sz="1450" dirty="0"/>
          </a:p>
          <a:p>
            <a:pPr marL="0" indent="0" algn="l">
              <a:lnSpc>
                <a:spcPct val="130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 parity bit = </a:t>
            </a:r>
            <a:r>
              <a:rPr lang="en-US" sz="14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</a:t>
            </a:r>
            <a:endParaRPr lang="en-US" sz="14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Transmitted: </a:t>
            </a:r>
            <a:r>
              <a:rPr lang="en-US" sz="14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10111</a:t>
            </a: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four 1s ✓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51166" y="4238427"/>
            <a:ext cx="5060427" cy="254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51166" y="4513659"/>
            <a:ext cx="5670011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Parity bit chosen to make the total count of 1s even.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33371" y="1959273"/>
            <a:ext cx="983035" cy="288032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7073" y="2016125"/>
            <a:ext cx="1365216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ODD PARITY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33371" y="2319238"/>
            <a:ext cx="51665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1s must be ODD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333371" y="2777827"/>
            <a:ext cx="5166588" cy="1210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Data: </a:t>
            </a:r>
            <a:r>
              <a:rPr lang="en-US" sz="14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1011</a:t>
            </a: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three 1s (odd count)</a:t>
            </a:r>
            <a:endParaRPr lang="en-US" sz="1450" dirty="0"/>
          </a:p>
          <a:p>
            <a:pPr marL="0" indent="0" algn="l">
              <a:lnSpc>
                <a:spcPct val="130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Odd parity bit = </a:t>
            </a:r>
            <a:r>
              <a:rPr lang="en-US" sz="1450" b="1" dirty="0">
                <a:solidFill>
                  <a:srgbClr val="0099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0</a:t>
            </a:r>
            <a:endParaRPr lang="en-US" sz="14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Transmitted: </a:t>
            </a:r>
            <a:r>
              <a:rPr lang="en-US" sz="14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10110</a:t>
            </a: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three 1s ✓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33371" y="4238427"/>
            <a:ext cx="5166588" cy="25400"/>
          </a:xfrm>
          <a:prstGeom prst="roundRect">
            <a:avLst>
              <a:gd name="adj" fmla="val 49999"/>
            </a:avLst>
          </a:prstGeom>
          <a:solidFill>
            <a:srgbClr val="D6E5EF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333371" y="4513659"/>
            <a:ext cx="577617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Parity bit chosen to keep the total count of 1s odd.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33371" y="5011738"/>
            <a:ext cx="5166588" cy="714276"/>
          </a:xfrm>
          <a:prstGeom prst="roundRect">
            <a:avLst>
              <a:gd name="adj" fmla="val 3980"/>
            </a:avLst>
          </a:prstGeom>
          <a:solidFill>
            <a:srgbClr val="790645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874" y="5276354"/>
            <a:ext cx="236829" cy="1895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949207" y="5221089"/>
            <a:ext cx="4970834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Same data, different parity scheme — the bit flips!</a:t>
            </a:r>
            <a:endParaRPr lang="en-US" sz="14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965178-2B32-5A69-9D2E-4A1E13CBDA13}"/>
              </a:ext>
            </a:extLst>
          </p:cNvPr>
          <p:cNvSpPr/>
          <p:nvPr/>
        </p:nvSpPr>
        <p:spPr>
          <a:xfrm>
            <a:off x="10899309" y="6419461"/>
            <a:ext cx="1262893" cy="354563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advTm="600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1895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XOR Gate: The Building Block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571254"/>
            <a:ext cx="4590340" cy="26012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81332" y="1904206"/>
            <a:ext cx="571852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XOR Truth Table — </a:t>
            </a:r>
            <a:r>
              <a:rPr lang="en-US" sz="1800" dirty="0">
                <a:solidFill>
                  <a:srgbClr val="00D4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⊕ B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781332" y="2421830"/>
            <a:ext cx="5718528" cy="2894112"/>
          </a:xfrm>
          <a:prstGeom prst="roundRect">
            <a:avLst>
              <a:gd name="adj" fmla="val 1034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81332" y="3002558"/>
            <a:ext cx="5718528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81332" y="3580110"/>
            <a:ext cx="5718528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81332" y="4157662"/>
            <a:ext cx="5718528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81332" y="4735215"/>
            <a:ext cx="5718528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788476" y="2428180"/>
            <a:ext cx="1901480" cy="574377"/>
          </a:xfrm>
          <a:custGeom>
            <a:avLst/>
            <a:gdLst/>
            <a:ahLst/>
            <a:cxnLst/>
            <a:rect l="l" t="t" r="r" b="b"/>
            <a:pathLst>
              <a:path w="1901480" h="574377">
                <a:moveTo>
                  <a:pt x="24935" y="0"/>
                </a:moveTo>
                <a:lnTo>
                  <a:pt x="1901480" y="0"/>
                </a:lnTo>
                <a:lnTo>
                  <a:pt x="1901480" y="574377"/>
                </a:lnTo>
                <a:lnTo>
                  <a:pt x="0" y="574377"/>
                </a:lnTo>
                <a:lnTo>
                  <a:pt x="0" y="24935"/>
                </a:lnTo>
                <a:arcTo wR="24935" hR="24935" stAng="10800000" swAng="5400000"/>
                <a:close/>
              </a:path>
            </a:pathLst>
          </a:custGeom>
          <a:solidFill>
            <a:srgbClr val="0099FF"/>
          </a:solidFill>
          <a:ln/>
        </p:spPr>
      </p:sp>
      <p:sp>
        <p:nvSpPr>
          <p:cNvPr id="11" name="Text 8"/>
          <p:cNvSpPr/>
          <p:nvPr/>
        </p:nvSpPr>
        <p:spPr>
          <a:xfrm>
            <a:off x="5987900" y="2554188"/>
            <a:ext cx="21122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689955" y="2428180"/>
            <a:ext cx="1901480" cy="574377"/>
          </a:xfrm>
          <a:prstGeom prst="rect">
            <a:avLst/>
          </a:prstGeom>
          <a:solidFill>
            <a:srgbClr val="0099FF"/>
          </a:solidFill>
          <a:ln/>
        </p:spPr>
      </p:sp>
      <p:sp>
        <p:nvSpPr>
          <p:cNvPr id="13" name="Text 10"/>
          <p:cNvSpPr/>
          <p:nvPr/>
        </p:nvSpPr>
        <p:spPr>
          <a:xfrm>
            <a:off x="7889380" y="2554188"/>
            <a:ext cx="21122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9591435" y="2428180"/>
            <a:ext cx="1901480" cy="574377"/>
          </a:xfrm>
          <a:custGeom>
            <a:avLst/>
            <a:gdLst/>
            <a:ahLst/>
            <a:cxnLst/>
            <a:rect l="l" t="t" r="r" b="b"/>
            <a:pathLst>
              <a:path w="1901480" h="574377">
                <a:moveTo>
                  <a:pt x="0" y="0"/>
                </a:moveTo>
                <a:lnTo>
                  <a:pt x="1876545" y="0"/>
                </a:lnTo>
                <a:arcTo wR="24935" hR="24935" stAng="16200000" swAng="5400000"/>
                <a:lnTo>
                  <a:pt x="1901480" y="574377"/>
                </a:lnTo>
                <a:lnTo>
                  <a:pt x="0" y="574377"/>
                </a:lnTo>
                <a:lnTo>
                  <a:pt x="0" y="0"/>
                </a:lnTo>
                <a:close/>
              </a:path>
            </a:pathLst>
          </a:custGeom>
          <a:solidFill>
            <a:srgbClr val="0099FF"/>
          </a:solidFill>
          <a:ln/>
        </p:spPr>
      </p:sp>
      <p:sp>
        <p:nvSpPr>
          <p:cNvPr id="15" name="Text 12"/>
          <p:cNvSpPr/>
          <p:nvPr/>
        </p:nvSpPr>
        <p:spPr>
          <a:xfrm>
            <a:off x="9790860" y="2554188"/>
            <a:ext cx="21122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 ⊕ B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987900" y="3131741"/>
            <a:ext cx="21122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889380" y="3131741"/>
            <a:ext cx="21122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9790860" y="3131741"/>
            <a:ext cx="21122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5987900" y="3709293"/>
            <a:ext cx="21122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889380" y="3709293"/>
            <a:ext cx="21122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9790860" y="3709293"/>
            <a:ext cx="21122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D4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5987900" y="4286845"/>
            <a:ext cx="21122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7889380" y="4286845"/>
            <a:ext cx="21122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9790860" y="4286845"/>
            <a:ext cx="21122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D4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5987900" y="4864398"/>
            <a:ext cx="21122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7889380" y="4864398"/>
            <a:ext cx="21122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9790860" y="4864398"/>
            <a:ext cx="21122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5781332" y="5540276"/>
            <a:ext cx="632811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Output = </a:t>
            </a:r>
            <a:r>
              <a:rPr lang="en-US" sz="1550" b="1" dirty="0">
                <a:solidFill>
                  <a:srgbClr val="00D4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only when inputs are </a:t>
            </a: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DIFFERENT</a:t>
            </a:r>
            <a:endParaRPr lang="en-US" sz="15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3E55E2-519E-E0A3-CDEB-A50F8039D570}"/>
              </a:ext>
            </a:extLst>
          </p:cNvPr>
          <p:cNvSpPr/>
          <p:nvPr/>
        </p:nvSpPr>
        <p:spPr>
          <a:xfrm>
            <a:off x="10899309" y="6419461"/>
            <a:ext cx="1262893" cy="354563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advTm="60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114" y="0"/>
            <a:ext cx="4571886" cy="64194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228626"/>
            <a:ext cx="6223638" cy="938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Cascaded XOR for Parity Generation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98086" y="2486521"/>
            <a:ext cx="2917157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Logic Equation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98086" y="2848769"/>
            <a:ext cx="2917157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dirty="0">
                <a:solidFill>
                  <a:srgbClr val="00D4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 = D₃ ⊕ D₂ ⊕ D₁ ⊕ D₀</a:t>
            </a:r>
            <a:endParaRPr lang="en-US" sz="4050" dirty="0"/>
          </a:p>
        </p:txBody>
      </p:sp>
      <p:sp>
        <p:nvSpPr>
          <p:cNvPr id="6" name="Shape 3"/>
          <p:cNvSpPr/>
          <p:nvPr/>
        </p:nvSpPr>
        <p:spPr>
          <a:xfrm>
            <a:off x="4010917" y="2502495"/>
            <a:ext cx="2917157" cy="1140718"/>
          </a:xfrm>
          <a:prstGeom prst="roundRect">
            <a:avLst>
              <a:gd name="adj" fmla="val 2098"/>
            </a:avLst>
          </a:prstGeom>
          <a:solidFill>
            <a:srgbClr val="444752"/>
          </a:solidFill>
          <a:ln/>
        </p:spPr>
      </p:sp>
      <p:sp>
        <p:nvSpPr>
          <p:cNvPr id="7" name="Text 4"/>
          <p:cNvSpPr/>
          <p:nvPr/>
        </p:nvSpPr>
        <p:spPr>
          <a:xfrm>
            <a:off x="4170457" y="2662039"/>
            <a:ext cx="2598077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 = 0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170457" y="3024287"/>
            <a:ext cx="2598077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 number of 1s in input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 parity output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010917" y="3770809"/>
            <a:ext cx="2917157" cy="1140718"/>
          </a:xfrm>
          <a:prstGeom prst="roundRect">
            <a:avLst>
              <a:gd name="adj" fmla="val 2098"/>
            </a:avLst>
          </a:prstGeom>
          <a:solidFill>
            <a:srgbClr val="444752"/>
          </a:solidFill>
          <a:ln/>
        </p:spPr>
      </p:sp>
      <p:sp>
        <p:nvSpPr>
          <p:cNvPr id="10" name="Text 7"/>
          <p:cNvSpPr/>
          <p:nvPr/>
        </p:nvSpPr>
        <p:spPr>
          <a:xfrm>
            <a:off x="4170457" y="3930352"/>
            <a:ext cx="2598077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 = 1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170457" y="4292600"/>
            <a:ext cx="2598077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Odd number of 1s in input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Odd parity output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010917" y="5055096"/>
            <a:ext cx="2917157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XOR naturally tracks the parity of input bits — no additional logic required.</a:t>
            </a:r>
            <a:endParaRPr lang="en-US" sz="12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DF27DE-A34A-C784-B570-9B70B32DF527}"/>
              </a:ext>
            </a:extLst>
          </p:cNvPr>
          <p:cNvSpPr/>
          <p:nvPr/>
        </p:nvSpPr>
        <p:spPr>
          <a:xfrm>
            <a:off x="10899309" y="6419461"/>
            <a:ext cx="1262893" cy="354563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800">
        <p159:morph option="byObject"/>
      </p:transition>
    </mc:Choice>
    <mc:Fallback xmlns="">
      <p:transition spd="med" advTm="8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hlinkClick r:id="" action="ppaction://ole?verb=0"/>
            <a:extLst>
              <a:ext uri="{FF2B5EF4-FFF2-40B4-BE49-F238E27FC236}">
                <a16:creationId xmlns:a16="http://schemas.microsoft.com/office/drawing/2014/main" id="{E3DA8927-0932-EDEF-827B-FAACFBF5CB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9036134"/>
              </p:ext>
            </p:extLst>
          </p:nvPr>
        </p:nvGraphicFramePr>
        <p:xfrm>
          <a:off x="0" y="0"/>
          <a:ext cx="12191999" cy="6860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6096296" imgH="3429229" progId="PowerPoint.Show.12">
                  <p:embed/>
                </p:oleObj>
              </mc:Choice>
              <mc:Fallback>
                <p:oleObj name="Presentation" r:id="rId2" imgW="6096296" imgH="3429229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191999" cy="6860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F6E2F52-C884-667C-FEC7-95524920F7FB}"/>
              </a:ext>
            </a:extLst>
          </p:cNvPr>
          <p:cNvSpPr/>
          <p:nvPr/>
        </p:nvSpPr>
        <p:spPr>
          <a:xfrm>
            <a:off x="10899309" y="6419461"/>
            <a:ext cx="1262893" cy="354563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31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00">
        <p:fade/>
      </p:transition>
    </mc:Choice>
    <mc:Fallback xmlns="">
      <p:transition spd="med" advTm="7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54423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Logisim Simulation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478" y="2401193"/>
            <a:ext cx="4888584" cy="27701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69338" y="2131318"/>
            <a:ext cx="1624666" cy="257572"/>
          </a:xfrm>
          <a:prstGeom prst="roundRect">
            <a:avLst>
              <a:gd name="adj" fmla="val 7899"/>
            </a:avLst>
          </a:prstGeom>
          <a:solidFill>
            <a:srgbClr val="49042A"/>
          </a:solidFill>
          <a:ln/>
        </p:spPr>
      </p:sp>
      <p:sp>
        <p:nvSpPr>
          <p:cNvPr id="5" name="Text 2"/>
          <p:cNvSpPr/>
          <p:nvPr/>
        </p:nvSpPr>
        <p:spPr>
          <a:xfrm>
            <a:off x="6971034" y="2182118"/>
            <a:ext cx="2030858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CASE: INPUT = 1011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869338" y="2446536"/>
            <a:ext cx="463052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Signal Values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0288" y="2838946"/>
            <a:ext cx="2244272" cy="9317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76898" y="2857996"/>
            <a:ext cx="2017662" cy="49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D₃ = 1   D₂ = 0   D₁ = 1   D₀ = 1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076898" y="3500735"/>
            <a:ext cx="2017662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Number of 1s = 3 (odd)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55588" y="2838946"/>
            <a:ext cx="2244272" cy="9317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482198" y="2857996"/>
            <a:ext cx="201766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XOR Cascade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9482198" y="3251398"/>
            <a:ext cx="2017662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⊕ 0 ⊕ 1 ⊕ 1 = </a:t>
            </a:r>
            <a:r>
              <a:rPr lang="en-US" sz="1300" b="1" dirty="0">
                <a:solidFill>
                  <a:srgbClr val="00D4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0288" y="4020840"/>
            <a:ext cx="4649572" cy="68242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76898" y="4039890"/>
            <a:ext cx="442296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Even Parity Bit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7076898" y="4433292"/>
            <a:ext cx="4422962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Output P = </a:t>
            </a:r>
            <a:r>
              <a:rPr lang="en-US" sz="1300" b="1" dirty="0">
                <a:solidFill>
                  <a:srgbClr val="00D4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</a:t>
            </a: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✓ — LED indicator: </a:t>
            </a:r>
            <a:r>
              <a:rPr lang="en-US" sz="13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ON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869338" y="4846340"/>
            <a:ext cx="4630522" cy="595015"/>
          </a:xfrm>
          <a:prstGeom prst="roundRect">
            <a:avLst>
              <a:gd name="adj" fmla="val 4274"/>
            </a:avLst>
          </a:prstGeom>
          <a:solidFill>
            <a:srgbClr val="183A13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8799" y="5055890"/>
            <a:ext cx="211926" cy="16946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420186" y="5018385"/>
            <a:ext cx="4519797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Circuit successfully generates the required parity bit.</a:t>
            </a:r>
            <a:endParaRPr lang="en-US" sz="13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B6F296-6455-F70D-D36A-FAB42F72A74B}"/>
              </a:ext>
            </a:extLst>
          </p:cNvPr>
          <p:cNvSpPr/>
          <p:nvPr/>
        </p:nvSpPr>
        <p:spPr>
          <a:xfrm>
            <a:off x="10899309" y="6419461"/>
            <a:ext cx="1262893" cy="354563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advTm="600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5945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Real-World Applications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045097"/>
            <a:ext cx="1105170" cy="11051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3399631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Communication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812580"/>
            <a:ext cx="25118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Detects single-bit errors in serial and parallel data links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274" y="2045097"/>
            <a:ext cx="1105170" cy="11051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9274" y="3399631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Computer Networks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459274" y="3812580"/>
            <a:ext cx="251185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Error-detection layer in network protocols and packet transmission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463" y="2045097"/>
            <a:ext cx="1105170" cy="11051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20463" y="3399631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Memory Systems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220463" y="3812580"/>
            <a:ext cx="25118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Detects data corruption in RAM and storage devices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1652" y="2045097"/>
            <a:ext cx="1105170" cy="11051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81652" y="3399631"/>
            <a:ext cx="25119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Digital Electronics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981652" y="3812580"/>
            <a:ext cx="251195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Foundation for error-detection and error-correction circuit design</a:t>
            </a:r>
            <a:endParaRPr lang="en-US" sz="1550" dirty="0"/>
          </a:p>
        </p:txBody>
      </p:sp>
      <p:sp>
        <p:nvSpPr>
          <p:cNvPr id="15" name="Shape 9"/>
          <p:cNvSpPr/>
          <p:nvPr/>
        </p:nvSpPr>
        <p:spPr>
          <a:xfrm>
            <a:off x="698086" y="4994473"/>
            <a:ext cx="10795524" cy="804069"/>
          </a:xfrm>
          <a:prstGeom prst="roundRect">
            <a:avLst>
              <a:gd name="adj" fmla="val 3721"/>
            </a:avLst>
          </a:prstGeom>
          <a:solidFill>
            <a:srgbClr val="4B3F02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510" y="5285085"/>
            <a:ext cx="249330" cy="19943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46266" y="5243711"/>
            <a:ext cx="10557504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⚠</a:t>
            </a: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Limitation: Parity cannot detect all multiple-bit error patterns. For stronger protection, use Hamming codes or CRC.</a:t>
            </a:r>
            <a:endParaRPr lang="en-US" sz="15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5ECE79-65A9-ED75-2346-C04CEEE6C121}"/>
              </a:ext>
            </a:extLst>
          </p:cNvPr>
          <p:cNvSpPr/>
          <p:nvPr/>
        </p:nvSpPr>
        <p:spPr>
          <a:xfrm>
            <a:off x="10899309" y="6419461"/>
            <a:ext cx="1262893" cy="354563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800">
        <p159:morph option="byObject"/>
      </p:transition>
    </mc:Choice>
    <mc:Fallback xmlns="">
      <p:transition spd="med" advTm="8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57820"/>
            <a:ext cx="6223638" cy="880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Extra Bit. One Simple Check. Better Data Reliability.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926" y="1706166"/>
            <a:ext cx="4667729" cy="20128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62047" y="3341202"/>
            <a:ext cx="996574" cy="12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Error Detection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6362047" y="2875260"/>
            <a:ext cx="996574" cy="12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Parity Bit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6362047" y="2414024"/>
            <a:ext cx="996574" cy="12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XOR Network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6362047" y="1948081"/>
            <a:ext cx="996574" cy="12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 Data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5718627" y="3896618"/>
            <a:ext cx="577498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XOR gates provide a simple, elegant method to generate parity bits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718627" y="4457502"/>
            <a:ext cx="577498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Even and odd parity implemented using basic cascaded logic gates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718627" y="5018385"/>
            <a:ext cx="577498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Low-cost, fast, and easy to simulate in digital design tools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718627" y="5579269"/>
            <a:ext cx="577498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Parity is foundational to digital error-detection and data integrity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65179" y="5990630"/>
            <a:ext cx="683322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00D4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Questions &amp; Discussion</a:t>
            </a:r>
            <a:endParaRPr lang="en-US" sz="11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7375B1-0FE1-B556-3E70-0113DAB3E8BF}"/>
              </a:ext>
            </a:extLst>
          </p:cNvPr>
          <p:cNvSpPr/>
          <p:nvPr/>
        </p:nvSpPr>
        <p:spPr>
          <a:xfrm>
            <a:off x="10899309" y="6419461"/>
            <a:ext cx="1262893" cy="354563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 advTm="1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505</Words>
  <Application>Microsoft Office PowerPoint</Application>
  <PresentationFormat>Widescreen</PresentationFormat>
  <Paragraphs>97</Paragraphs>
  <Slides>9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Lora</vt:lpstr>
      <vt:lpstr>Source Sans 3</vt:lpstr>
      <vt:lpstr>Source Sans 3 Bold</vt:lpstr>
      <vt:lpstr>Arial</vt:lpstr>
      <vt:lpstr>Office Theme</vt:lpstr>
      <vt:lpstr>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SREEKARNEELAM011008@GMAIL.COM</cp:lastModifiedBy>
  <cp:revision>10</cp:revision>
  <dcterms:created xsi:type="dcterms:W3CDTF">2026-08-25T07:34:45Z</dcterms:created>
  <dcterms:modified xsi:type="dcterms:W3CDTF">2026-09-12T07:54:52Z</dcterms:modified>
</cp:coreProperties>
</file>